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歡迎。今晚走一條線：天主怎樣餵養祂的子民——從逾越節羔羊，經過最後晚餐，到主日的祭台。路線：盟約 → 逾越節 → 最後晚餐 → 聖經 → 初期教會 → 彌撒 → 領受聖體的意義。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今晚走一條線：天主怎樣餵養祂的子民——從逾越節羔羊，經過最後晚餐，到主日的祭台。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天主不只給誡命，祂建立一個家庭；家庭是一起吃飯的。今晚就跟著這條「盟約之餐」的線走。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天主不只給誡命，祂建立一個家庭；家庭是一起吃飯的。麥基洗德是至高天主的司祭，他獻上的餅和酒，教會從起初就認出是聖體的預像。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天主親自規定每個細節，因為細節都在教導。無殘疾的羔羊——完美；木頭上的血——得救的記號；無酵餅——匆忙、除舊；苦菜——為奴之苦；旅人的姿態——天主要帶他們去一個地方。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兩個重點。得救靠的是血，不是人的好。「紀念」不是懷舊：禮儀使天主的救援臨於每一代。注意天主把孩子的問題寫進禮儀裡——「這禮有什麼意思？」（出12:26–27）禮儀本身就是要理講授，教會至今如此。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關鍵：耶穌沒有廢除逾越節，祂慶祝它，並在其中建立新的禮。「新約的血」呼應出24:8梅瑟灑血立約。西乃山的形狀重現——這次以祂自己的血作印記，在前一夜預先獻上。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關鍵：耶穌沒有廢除逾越節，祂慶祝它，並在其中建立新的禮。「新約的血」呼應出24:8梅瑟灑血立約。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約中重複最多的話。「紀念」就是逾越節的紀念——禮儀使祭獻臨在，不只是回想。所以彌撒是祭獻，不是追思會。29節別錯過：「在我父的國裏……與你們同喝新酒」——指向天國的婚宴：聖體是未來的預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這是福音中唯一一次，耶穌因一條教導失去跟隨者，卻不追回去解釋「我是比喻」。祂是認真的。注意55節「真實的食品」——這段的標題就從這裡來；56節「住在我內，我也住在他內」——聖體是雙向的寓居。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伯多祿的回答就是教會至今的回答：即使難懂，我們留下。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聖體聖事不是後來的發明，是教會的第一口呼吸。注意次序：先有擘餅，才有「上主使人加入」。聖體建立教會，教會才去傳教。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聖經預備心，聖事賜下相遇。心在聽道時火熱，眼睛卻在擘餅時開。記住這個形狀——就是每台彌撒的形狀。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聖經預備心，聖事賜下相遇。心在聽道時火熱，眼睛卻在擘餅時開。記住這個形狀——就是每台彌撒的形狀。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播放影片。聖經預備心，聖事賜下相遇——這就是每台彌撒的形狀。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都在宗徒去世一代人之內。猶思定向外教皇帝描述的程序，我們都認得。要理說：這基本輪廓「直到今天，仍完好地為各大禮儀族群所保存」（CCC 1345）。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回答「彌撒為什麼長這樣」——因為厄瑪烏長這樣。兩張桌子，一頓飯，一個敬禮。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慢慢走——多數慕道者望過彌撒，卻沒人為他們講解過。落在關鍵：感恩經之前都是預備，之後都是感恩與使命。遣散不是結束，是派遣。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聖道禮儀：讀經、聖詠、福音、講道——天主說話，我們回應。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聖祭禮儀：奉獻餅酒、感恩經與祝聖、天主經、羔羊頌、領聖體——天上觸及人間。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羔羊頌：「除免世罪的天主羔羊，求祢垂憐我們。」——逾越節的羔羊，如今在祭台上。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簡單而肯定：因為祂說「這是我的身體」，教會從一開始就相信。一個專有名詞，一句白話解釋——這個階段夠了。有人追問哲學，以後再談。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聖體是食糧：滋養、醫治、結合。兩句要落地：它是罪人的良藥，不是完人的獎品——但正因它是基督，要求我們預備好自己。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三個具體習慣：省察良心（週六晚上正是時候）、大罪先告解、守齋。說得溫暖：預備不是門檻，是迎接所愛之人的方式。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三個具體習慣：省察良心、大罪先告解、守齋。預備不是門檻，是迎接所愛之人的方式——告解就是回家。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具體化：說出本堂朝拜聖體的時間。建議本週一次十五分鐘的探訪。可以提的聖人：聖女大德蘭、聖維雅納、聖小德蘭、真福卡洛・阿庫蒂斯——「聖體聖事是我通往天堂的高速公路」。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朝拜聖體：賢士走了遠路，只為俯伏朝拜。這週，找十五分鐘，去探訪祂。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慢慢說，說兩遍也可以。這是給停車場的三句話——請大家寫下一句。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讀出來，靜默兩分鐘——或分組分享。分享要短，最後帶回基督的臨在。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以祈禱結束——「基督的靈魂」禱文，或簡單的謝恩。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18288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400" b="1" i="0">
                <a:solidFill>
                  <a:srgbClr val="FFFFFF"/>
                </a:solidFill>
                <a:latin typeface="Microsoft JhengHei"/>
              </a:rPr>
              <a:t>感恩祭（彌撒）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4C85A"/>
                </a:solidFill>
                <a:latin typeface="Microsoft JhengHei"/>
              </a:rPr>
              <a:t>從逾越節到祭台：盟約、祭獻與共融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Microsoft JhengHei"/>
              </a:rPr>
              <a:t>聖心堂慕道班・2026年11月1日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開場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今晚的路線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天主怎樣餵養祂的子民——從逾越節羔羊，經過最後晚餐，到主日的祭台。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盟約 → 逾越節 → 最後晚餐 → 聖經 → 初期教會 → 彌撒 → 領受聖體的意義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舊約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天主立盟約——用一頓飯作印記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整部舊約，天主不斷與人立盟約：亞巴郎（創12、15）、梅瑟（出19–24）。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每個盟約形狀都一樣：天主召叫 → 許下承諾 → 人答應 → 以祭獻作印記。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印記幾乎都是一頓共餐——一起吃飯，成為一家人。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舊約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bens-melchizede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616" y="1188720"/>
            <a:ext cx="5210827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魯本斯《亞巴郎與麥基洗德相遇》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麥基洗德獻上餅和酒（創14）——聖體聖事的預像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舊約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逾越節：出谷紀第十二章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羔羊：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一歲、雄性、無殘疾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血：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塗在門框和門楣上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吃：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烤著吃，配無酵餅和苦菜——束腰、穿鞋、手持棍杖，急速吃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舊約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5E1A1E"/>
                </a:solidFill>
                <a:latin typeface="Microsoft JhengHei"/>
              </a:rPr>
              <a:t>「這是紀念日」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2B2620"/>
                </a:solidFill>
                <a:latin typeface="Microsoft JhengHei"/>
              </a:rPr>
              <a:t>「這血在你們所住的房屋上，當作你們的記號：我打擊埃及國的時候，一見這血，就越過你們去，毀滅的災禍不落在你們身上。這一天將是你們的紀念日，要當作上主的節日來慶祝；你們要世世代代過這節日，作為永遠的法規。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5D4F"/>
                </a:solidFill>
                <a:latin typeface="Microsoft JhengHei"/>
              </a:rPr>
              <a:t>——出 12:13–14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新約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最後晚餐：一頓逾越節晚餐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「你願我們在哪裡，給你預備吃逾越節晚餐？」——門徒去預備了。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晚上，祂與十二門徒坐席。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在逾越節晚餐中，新的事發生了：拿餅、祝福、擘開——還有杯。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新約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ntoretto-last-sup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076" y="1188720"/>
            <a:ext cx="6235908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丁托列托《最後晚餐》(1594)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基督在畫面中央分餅，光照全場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新約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5E1A1E"/>
                </a:solidFill>
                <a:latin typeface="Microsoft JhengHei"/>
              </a:rPr>
              <a:t>「這是我的身體……這是我的血」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 i="1">
                <a:solidFill>
                  <a:srgbClr val="2B2620"/>
                </a:solidFill>
                <a:latin typeface="Microsoft JhengHei"/>
              </a:rPr>
              <a:t>「他們正吃晚餐的時候，耶穌拿起餅來，祝福了，擘開遞給門徒說：「你們拿去吃罷！這是我的身體。」然後，又拿起杯來，祝謝了，遞給他們說：「你們都由其中喝罷！因為這是我的血，新約的血，為大眾傾流，以赦免罪過。我告訴你們：從今以後，我不再喝這葡萄汁了，直到在我父的國裏那一天，與你們同喝新酒。」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5D4F"/>
                </a:solidFill>
                <a:latin typeface="Microsoft JhengHei"/>
              </a:rPr>
              <a:t>——瑪 26:26–29・另見谷14・路22・格前11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聖經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「我的肉是真實的食品」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48 我是生命的食糧。……51 我是從天上降下的生活的食糧；誰若吃了這食糧，必要生活直到永遠。我所要賜給的食糧，就是我的肉，是為世界的生命而賜給的。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53 「我實實在在告訴你們：你們若不吃人子的肉，不喝他的血，在你們內，便沒有生命。」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55 「因為我的肉，是真實的食品；我的血，是真實的飲料。」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56 「誰吃我的肉，並喝我的血，便住在我內，我也住在他內。」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聖經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5E1A1E"/>
                </a:solidFill>
                <a:latin typeface="Microsoft JhengHei"/>
              </a:rPr>
              <a:t>門徒離去，伯多祿留下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2B2620"/>
                </a:solidFill>
                <a:latin typeface="Microsoft JhengHei"/>
              </a:rPr>
              <a:t>「從此，他的門徒中有許多人退去了，不再同他往來。於是耶穌向那十二人說：「難道你們也願走嗎？」西滿伯多祿回答說：「主！惟你有永生的話，我們去投奔誰呢？我們相信，而且已知道你是天主的聖者。」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5D4F"/>
                </a:solidFill>
                <a:latin typeface="Microsoft JhengHei"/>
              </a:rPr>
              <a:t>——若 6:66–69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聖經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初期教會：「擘餅」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「他們專心聽取宗徒的訓誨，時常團聚，擘餅，祈禱。」——宗2:42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「每天都成群結隊地前往聖殿，也挨戶擘餅，懷著歡樂和誠實的心一起進食。」——宗2:46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「上主天天使那些得救的人加入會眾。」——宗2:47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聖經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厄瑪烏：在餐桌上被認出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路上祂講解聖經——「我們的心不是火熱的嗎？」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「當耶穌與他們坐下吃飯的時候，就拿起餅來，祝福了，擘開，遞給他們。他們的眼睛開了，這纔認出耶穌來。」——路24:30–31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聖經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mbrandt-emma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502" y="1188720"/>
            <a:ext cx="5177056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林布蘭《厄瑪烏的晚餐》(1648)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燭光下耶穌擘餅，門徒驚悟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聖經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icrosoft JhengHei"/>
              </a:rPr>
              <a:t>厄瑪烏</a:t>
            </a:r>
          </a:p>
        </p:txBody>
      </p:sp>
      <p:pic>
        <p:nvPicPr>
          <p:cNvPr id="5" name="emmaus-combin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49527" y="1965960"/>
            <a:ext cx="9692640" cy="5449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507223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4C85A"/>
                </a:solidFill>
                <a:latin typeface="Microsoft JhengHei"/>
              </a:rPr>
              <a:t>23秒：林布蘭畫作開場 → 路上同行（路24:32）→ 擘餅認出（路24:30–31）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15 /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初期教會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初期基督徒相信什麼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《十二宗徒遺訓》（一／二世紀）：「在主日聚會，擘餅、獻感恩祭……」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安提約基雅的聖依納爵（†107）：聖體是「不朽之藥」，「使我們脫免死亡，在耶穌基督內永生」。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殉道者聖猶思定（約155年）向外教皇帝描述的主日聚會：讀經、講道、祈禱、餅酒、眾人應「阿們」、分送——並由執事送給缺席者。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彌撒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今天的彌撒：兩張桌子，一個敬禮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感恩祭禮儀有兩大部分，形成一個整體（CCC 1346）：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聖道禮儀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——天主聖言的桌子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聖祭禮儀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——主基督身體的桌子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「為我們擺設的感恩祭宴席，是天主聖言和主基督身體的雙重桌子。」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正是厄瑪烏的形狀：路上講解聖經，同席時「拿起餅來，祝謝了，擘開，遞給他們」（參 CCC 1347）。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彌撒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走一遍彌撒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B2620"/>
                </a:solidFill>
                <a:latin typeface="Microsoft JhengHei"/>
              </a:rPr>
              <a:t>1. 進堂禮</a:t>
            </a:r>
            <a:r>
              <a:rPr sz="1900" b="0" i="0">
                <a:solidFill>
                  <a:srgbClr val="2B2620"/>
                </a:solidFill>
                <a:latin typeface="Microsoft JhengHei"/>
              </a:rPr>
              <a:t>——集合：問候、懺悔禮、光榮頌，成為一個團體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B2620"/>
                </a:solidFill>
                <a:latin typeface="Microsoft JhengHei"/>
              </a:rPr>
              <a:t>2. 聖道禮儀</a:t>
            </a:r>
            <a:r>
              <a:rPr sz="1900" b="0" i="0">
                <a:solidFill>
                  <a:srgbClr val="2B2620"/>
                </a:solidFill>
                <a:latin typeface="Microsoft JhengHei"/>
              </a:rPr>
              <a:t>——讀經、聖詠、福音、講道、信經、信友禱文；天主說話，我們回應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B2620"/>
                </a:solidFill>
                <a:latin typeface="Microsoft JhengHei"/>
              </a:rPr>
              <a:t>3. 聖祭禮儀</a:t>
            </a:r>
            <a:r>
              <a:rPr sz="1900" b="0" i="0">
                <a:solidFill>
                  <a:srgbClr val="2B2620"/>
                </a:solidFill>
                <a:latin typeface="Microsoft JhengHei"/>
              </a:rPr>
              <a:t>——奉獻餅酒、感恩經與祝聖、天主經、羔羊頌、領聖體；天上觸及人間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2B2620"/>
                </a:solidFill>
                <a:latin typeface="Microsoft JhengHei"/>
              </a:rPr>
              <a:t>4. 禮成禮</a:t>
            </a:r>
            <a:r>
              <a:rPr sz="1900" b="0" i="0">
                <a:solidFill>
                  <a:srgbClr val="2B2620"/>
                </a:solidFill>
                <a:latin typeface="Microsoft JhengHei"/>
              </a:rPr>
              <a:t>——降福與遣散：「彌撒禮成，你們去吧。」被派遣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彌撒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uido-matth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981" y="1188720"/>
            <a:ext cx="3536097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圭多・雷尼《聖瑪竇與天使》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天使引著聖史的手寫福音——天主說話的樣子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彌撒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umph-of-st-ignati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59" y="1188720"/>
            <a:ext cx="2201142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波佐《聖依納爵的勝利》（羅馬聖依納爵堂穹頂，1694）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抬頭仰望，藍天之上基督在光中，聖人天使層層環繞——正是「天上觸及人間」的樣子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彌撒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yck-mystic-la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981" y="1188720"/>
            <a:ext cx="7190097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揚・范艾克《神祕羔羊的欽崇》（根特祭壇畫，1432）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祭台上的羔羊，血流入聖爵，聖人環繞欽崇——「天主的羔羊」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教會的教導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基督真實臨在——簡單說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祝聖之後，餅酒真正成為耶穌——祂的體和血。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不是象徵，不是紀念：是真真實實的祂。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教會稱這轉變為「實體轉變」（CCC 1376）：餅酒的外形仍在，但其實體已成為基督。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2B2620"/>
                </a:solidFill>
                <a:latin typeface="Microsoft JhengHei"/>
              </a:rPr>
              <a:t>「藉著餅與酒的被祝聖，餅的整個實體，被轉變成為我主基督身體的實體；酒的整個實體，被轉變成為祂寶血的實體。」——CCC 1376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教會的教導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領聖體在我們內做什麼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加深與基督的結合。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赦免小罪，堅固我們抵擋將來的大罪。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使我們成為一個身體——「感恩祭建立教會」。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派遣我們走向窮人。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活出來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預備領受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「所以人應省察自己，然後纔可以吃這餅，喝這杯。」——格前11:28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自覺有大罪：先辦告解。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守聖體齋（一小時）。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以迎接貴賓的心來——「因為此刻基督要成為我們的貴賓」（CCC 1387）。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活出來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mbrandt-prodigal-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579" y="1188720"/>
            <a:ext cx="3188901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林布蘭《浪子回頭》(1669)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父親擁抱跪著的兒子——告解就是回家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活出來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從聖體生活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五個習慣，一週的節奏：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1. </a:t>
            </a:r>
            <a:r>
              <a:rPr sz="2100" b="1" i="0">
                <a:solidFill>
                  <a:srgbClr val="2B2620"/>
                </a:solidFill>
                <a:latin typeface="Microsoft JhengHei"/>
              </a:rPr>
              <a:t>好好預備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領聖體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2. </a:t>
            </a:r>
            <a:r>
              <a:rPr sz="2100" b="1" i="0">
                <a:solidFill>
                  <a:srgbClr val="2B2620"/>
                </a:solidFill>
                <a:latin typeface="Microsoft JhengHei"/>
              </a:rPr>
              <a:t>探訪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明供的聖體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3. </a:t>
            </a:r>
            <a:r>
              <a:rPr sz="2100" b="1" i="0">
                <a:solidFill>
                  <a:srgbClr val="2B2620"/>
                </a:solidFill>
                <a:latin typeface="Microsoft JhengHei"/>
              </a:rPr>
              <a:t>朝拜聖體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4. </a:t>
            </a:r>
            <a:r>
              <a:rPr sz="2100" b="1" i="0">
                <a:solidFill>
                  <a:srgbClr val="2B2620"/>
                </a:solidFill>
                <a:latin typeface="Microsoft JhengHei"/>
              </a:rPr>
              <a:t>定期告解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2B2620"/>
                </a:solidFill>
                <a:latin typeface="Microsoft JhengHei"/>
              </a:rPr>
              <a:t>5. </a:t>
            </a:r>
            <a:r>
              <a:rPr sz="2100" b="1" i="0">
                <a:solidFill>
                  <a:srgbClr val="2B2620"/>
                </a:solidFill>
                <a:latin typeface="Microsoft JhengHei"/>
              </a:rPr>
              <a:t>讀聖人的傳記</a:t>
            </a:r>
            <a:r>
              <a:rPr sz="2100" b="0" i="0">
                <a:solidFill>
                  <a:srgbClr val="2B2620"/>
                </a:solidFill>
                <a:latin typeface="Microsoft JhengHei"/>
              </a:rPr>
              <a:t>——那些深愛聖體的人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活出來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naco-ma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64" y="1188720"/>
            <a:ext cx="4676931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223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C9A227"/>
                </a:solidFill>
                <a:latin typeface="Microsoft JhengHei"/>
              </a:rPr>
              <a:t>洛倫佐・摩納哥《三王來朝》(1420)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DFBF6"/>
                </a:solidFill>
                <a:latin typeface="Microsoft JhengHei"/>
              </a:rPr>
              <a:t>賢士俯伏朝拜聖嬰——朝拜的樣子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帶回家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</a:rPr>
              <a:t>帶回家的三句話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C9A227"/>
                </a:solidFill>
                <a:latin typeface="Microsoft JhengHei"/>
              </a:rPr>
              <a:t>一  </a:t>
            </a:r>
            <a:r>
              <a:rPr sz="2300">
                <a:solidFill>
                  <a:srgbClr val="FFFFFF"/>
                </a:solidFill>
                <a:latin typeface="Microsoft JhengHei"/>
              </a:rPr>
              <a:t>聖體聖事是基督寶血所立的新約——逾越節的成全，不是一個象徵。</a:t>
            </a:r>
          </a:p>
          <a:p>
            <a:pPr>
              <a:spcAft>
                <a:spcPts val="1800"/>
              </a:spcAft>
            </a:pPr>
            <a:r>
              <a:rPr sz="3000" b="1">
                <a:solidFill>
                  <a:srgbClr val="C9A227"/>
                </a:solidFill>
                <a:latin typeface="Microsoft JhengHei"/>
              </a:rPr>
              <a:t>二  </a:t>
            </a:r>
            <a:r>
              <a:rPr sz="2300">
                <a:solidFill>
                  <a:srgbClr val="FFFFFF"/>
                </a:solidFill>
                <a:latin typeface="Microsoft JhengHei"/>
              </a:rPr>
              <a:t>教會從宗徒時代就這樣慶祝——主日復主日，不朽之藥。</a:t>
            </a:r>
          </a:p>
          <a:p>
            <a:pPr>
              <a:spcAft>
                <a:spcPts val="1800"/>
              </a:spcAft>
            </a:pPr>
            <a:r>
              <a:rPr sz="3000" b="1">
                <a:solidFill>
                  <a:srgbClr val="C9A227"/>
                </a:solidFill>
                <a:latin typeface="Microsoft JhengHei"/>
              </a:rPr>
              <a:t>三  </a:t>
            </a:r>
            <a:r>
              <a:rPr sz="2300">
                <a:solidFill>
                  <a:srgbClr val="FFFFFF"/>
                </a:solidFill>
                <a:latin typeface="Microsoft JhengHei"/>
              </a:rPr>
              <a:t>基督成為你的貴賓——預備好自己，讓祂使你與祂合而為一。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JhengHei"/>
              </a:rPr>
              <a:t>反省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04088"/>
            <a:ext cx="109728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5E1A1E"/>
                </a:solidFill>
                <a:latin typeface="Microsoft JhengHei"/>
              </a:rPr>
              <a:t>反省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「感恩祭建立教會」——這週我該怎樣對待身邊的人？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聖保祿說「人應省察自己」（格前11:28）——我的週六晚上可以怎樣省察？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2B2620"/>
                </a:solidFill>
                <a:latin typeface="Microsoft JhengHei"/>
              </a:rPr>
              <a:t>這週，哪裡可以安插一次短短的聖體探訪？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5D4F"/>
                </a:solidFill>
                <a:latin typeface="Microsoft JhengHe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46304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800" b="0" i="1">
                <a:solidFill>
                  <a:srgbClr val="FFFFFF"/>
                </a:solidFill>
                <a:latin typeface="Microsoft JhengHei"/>
              </a:rPr>
              <a:t>「因為餅只是一個，我們雖多，只是一個身體，因為我們眾人都共享這一個餅。」</a:t>
            </a:r>
          </a:p>
          <a:p>
            <a:pPr algn="ctr">
              <a:spcBef>
                <a:spcPts val="0"/>
              </a:spcBef>
              <a:spcAft>
                <a:spcPts val="3000"/>
              </a:spcAft>
            </a:pPr>
            <a:r>
              <a:rPr sz="1800" b="0" i="0">
                <a:solidFill>
                  <a:srgbClr val="E4C85A"/>
                </a:solidFill>
                <a:latin typeface="Microsoft JhengHei"/>
              </a:rPr>
              <a:t>——格前 10:17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600" b="1" i="0">
                <a:solidFill>
                  <a:srgbClr val="FFFFFF"/>
                </a:solidFill>
                <a:latin typeface="Microsoft JhengHei"/>
              </a:rPr>
              <a:t>謝謝大家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4C85A"/>
                </a:solidFill>
                <a:latin typeface="Microsoft JhengHei"/>
              </a:rPr>
              <a:t>資料：思高聖經・《天主教要理》・教父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感恩祭（彌撒）・聖心堂慕道班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C85A"/>
                </a:solidFill>
                <a:latin typeface="Microsoft JhengHe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