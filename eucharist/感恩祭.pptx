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Anta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nta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>
                <a:latin typeface="Arial"/>
                <a:ea typeface="Arial"/>
                <a:cs typeface="Arial"/>
                <a:sym typeface="Arial"/>
              </a:rPr>
              <a:t>NOTE: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zh-TW">
                <a:latin typeface="Arial"/>
                <a:ea typeface="Arial"/>
                <a:cs typeface="Arial"/>
                <a:sym typeface="Arial"/>
              </a:rPr>
              <a:t>To change the  image on this slide, select the picture and delete it. Then click the Pictures icon in the placeholder to insert your own image.</a:t>
            </a:r>
            <a:endParaRPr/>
          </a:p>
        </p:txBody>
      </p:sp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66877c3427047bd_8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466877c3427047bd_8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h466877c3427047bd_8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119b7e2120c61483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119b7e2120c6148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h119b7e2120c61483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十字聖號不僅是一種開始祈禱的方式，本身就是一種有力的祈禱，它能在我們的生活中傾注大量的祝福。藉著十字聖號，我們懇求天主臨在我們中間，祝福我們，協助我們，保護我們。十字聖號是一種印記。呼求上主的名字，就是呼求祂的臨在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我們在</a:t>
            </a:r>
            <a:r>
              <a:rPr lang="zh-TW" sz="1200">
                <a:latin typeface="DFKai-SB"/>
                <a:ea typeface="DFKai-SB"/>
                <a:cs typeface="DFKai-SB"/>
                <a:sym typeface="DFKai-SB"/>
              </a:rPr>
              <a:t>懺悔禮部分，表達接受真實的自己和對自己的過失表示誠肯的痛悔。準備與天主相遇。</a:t>
            </a:r>
            <a:endParaRPr sz="12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DFKai-SB"/>
                <a:ea typeface="DFKai-SB"/>
                <a:cs typeface="DFKai-SB"/>
                <a:sym typeface="DFKai-SB"/>
              </a:rPr>
              <a:t>垂憐經：主要是表達痛悔。也可以把我們的痛苦託付給上主，相信祂必安慰和治癒我們。我們也可以將我們心愛的人託付給主。</a:t>
            </a:r>
            <a:endParaRPr sz="12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DFKai-SB"/>
                <a:ea typeface="DFKai-SB"/>
                <a:cs typeface="DFKai-SB"/>
                <a:sym typeface="DFKai-SB"/>
              </a:rPr>
              <a:t>光榮頌：表達出天主是萬王之王。我們在生活中，接受祂的統治，將自己完全順服於祂。</a:t>
            </a:r>
            <a:endParaRPr sz="12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DFKai-SB"/>
                <a:ea typeface="DFKai-SB"/>
                <a:cs typeface="DFKai-SB"/>
                <a:sym typeface="DFKai-SB"/>
              </a:rPr>
              <a:t>集禱經 ：主祭邀請大家一起祈禱。並以此結束進堂式。</a:t>
            </a:r>
            <a:endParaRPr sz="120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51" name="Google Shape;1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466877c3427047b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466877c3427047b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h466877c3427047b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466877c3427047bd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466877c3427047bd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h466877c3427047bd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zh-TW"/>
              <a:t>我們以進堂式準備自己，好能與天主聖言相通。我們坐下，仔細聆聽天主透過祂在聖經中所默感的字句，對我們說話。這是一種個人與天主的相遇。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FKai-SB"/>
              <a:buNone/>
            </a:pPr>
            <a:r>
              <a:rPr lang="zh-TW" sz="1200">
                <a:latin typeface="DFKai-SB"/>
                <a:ea typeface="DFKai-SB"/>
                <a:cs typeface="DFKai-SB"/>
                <a:sym typeface="DFKai-SB"/>
              </a:rPr>
              <a:t>讀經一  包括舊約，幫助我們進入以色列們民族的歷史故事。讓我們能更清楚看到聖經的整體性。</a:t>
            </a:r>
            <a:endParaRPr sz="12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FKai-SB"/>
              <a:buNone/>
            </a:pPr>
            <a:r>
              <a:rPr lang="zh-TW" sz="1200">
                <a:latin typeface="DFKai-SB"/>
                <a:ea typeface="DFKai-SB"/>
                <a:cs typeface="DFKai-SB"/>
                <a:sym typeface="DFKai-SB"/>
              </a:rPr>
              <a:t>答唱詠：我們用天主親自默感的聖詠來回應天主。</a:t>
            </a:r>
            <a:endParaRPr sz="12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FKai-SB"/>
              <a:buNone/>
            </a:pPr>
            <a:r>
              <a:rPr lang="zh-TW" sz="1200">
                <a:latin typeface="DFKai-SB"/>
                <a:ea typeface="DFKai-SB"/>
                <a:cs typeface="DFKai-SB"/>
                <a:sym typeface="DFKai-SB"/>
              </a:rPr>
              <a:t>讀經二：藉著讀經二我們了解宗徒們的信仰，也看見他們的生命符合基督死亡與復活的奧蹟。</a:t>
            </a:r>
            <a:endParaRPr sz="12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FKai-SB"/>
              <a:buNone/>
            </a:pPr>
            <a:r>
              <a:rPr lang="zh-TW" sz="1200">
                <a:latin typeface="DFKai-SB"/>
                <a:ea typeface="DFKai-SB"/>
                <a:cs typeface="DFKai-SB"/>
                <a:sym typeface="DFKai-SB"/>
              </a:rPr>
              <a:t>福音前歡呼： 站立是猶太會眾表示恭敬的姿勢。當我們準備要聆聽耶穌在福音中對我們說話時，我們起立並榮耀祂。</a:t>
            </a:r>
            <a:endParaRPr sz="12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FKai-SB"/>
              <a:buNone/>
            </a:pPr>
            <a:r>
              <a:rPr lang="zh-TW" sz="1200">
                <a:latin typeface="DFKai-SB"/>
                <a:ea typeface="DFKai-SB"/>
                <a:cs typeface="DFKai-SB"/>
                <a:sym typeface="DFKai-SB"/>
              </a:rPr>
              <a:t>福音：宣讀福音時，基督親臨在祂的話語中。</a:t>
            </a:r>
            <a:endParaRPr sz="12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zh-TW"/>
              <a:t>信經：當我們重申信仰時，我們相信天主的存在，同時我們也表示將自己全部生命交託給為我們創造萬物的那一位。〈信經〉帶領我們走過全部救恩史的故事。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FKai-SB"/>
              <a:buNone/>
            </a:pPr>
            <a:r>
              <a:rPr lang="zh-TW" sz="1200">
                <a:latin typeface="DFKai-SB"/>
                <a:ea typeface="DFKai-SB"/>
                <a:cs typeface="DFKai-SB"/>
                <a:sym typeface="DFKai-SB"/>
              </a:rPr>
              <a:t>信友禱詞：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聖道禮儀以</a:t>
            </a:r>
            <a:r>
              <a:rPr lang="zh-TW" sz="1200">
                <a:latin typeface="DFKai-SB"/>
                <a:ea typeface="DFKai-SB"/>
                <a:cs typeface="DFKai-SB"/>
                <a:sym typeface="DFKai-SB"/>
              </a:rPr>
              <a:t>信友禱詞作為結束。這是一種代禱式的祈禱。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466877c3427047bd_8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466877c3427047bd_8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h466877c3427047bd_8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466877c3427047bd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h466877c3427047bd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h466877c3427047bd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466877c3427047bd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h466877c3427047bd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h466877c3427047bd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奉獻</a:t>
            </a: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餅酒象徵自我的奉獻。我們將自己的全部生活交付於天主。這微小奉獻的本身並不重要。但是我們放入其中的愛，以及我們將自己貧窮的禮物與基督完滿的祭獻結合為一。一起奉獻給天父。</a:t>
            </a:r>
            <a:endParaRPr b="0" i="0" sz="1200" u="none" cap="none" strike="noStrike">
              <a:solidFill>
                <a:srgbClr val="5148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頌謝詞：早在第三世紀，教會禮儀中就有這種對話。</a:t>
            </a:r>
            <a:r>
              <a:rPr b="0" i="0" lang="zh-TW" sz="1200" u="none" cap="none" strike="noStrike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「願主與你們同在」</a:t>
            </a: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當主祭與信友準備進入彌撒神聖祭獻時，需要上主與他們同在。</a:t>
            </a:r>
            <a:r>
              <a:rPr b="0" i="0" lang="zh-TW" sz="1200" u="none" cap="none" strike="noStrike">
                <a:solidFill>
                  <a:srgbClr val="C00000"/>
                </a:solidFill>
                <a:latin typeface="DFKai-SB"/>
                <a:ea typeface="DFKai-SB"/>
                <a:cs typeface="DFKai-SB"/>
                <a:sym typeface="DFKai-SB"/>
              </a:rPr>
              <a:t>「請舉心向上」</a:t>
            </a: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提醒我們要全神貫注將要展現在我們面前的一切。</a:t>
            </a:r>
            <a:endParaRPr b="0" i="0" sz="1200" u="none" cap="none" strike="noStrike">
              <a:solidFill>
                <a:srgbClr val="5148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感恩經：是在〈聖詠集〉中，用於祈禱的聖經模式。感恩經述說天主在救恩歷史中奇妙的作為。感謝基督賜與人生命的死亡及復活。</a:t>
            </a:r>
            <a:endParaRPr b="0" i="0" sz="1200" u="none" cap="none" strike="noStrike">
              <a:solidFill>
                <a:srgbClr val="5148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歡呼歌：「聖、聖、聖」 將我們的心神帶上天堂。重複使用三次「聖」是希伯來文中的最高級。當我們唱完</a:t>
            </a:r>
            <a:r>
              <a:rPr lang="zh-TW" sz="1200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歡呼歌後，我們準備與天主相遇，天主將親臨在祭台上，所以我們恭敬的跪下，迎接祂。</a:t>
            </a:r>
            <a:endParaRPr sz="1200">
              <a:solidFill>
                <a:srgbClr val="5148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呼求聖神： 讓我們想起天使向聖母報喜的事件。藉著聖神降在餅酒上，將餅酒轉變為主基督的體血。</a:t>
            </a:r>
            <a:endParaRPr b="0" i="0" sz="1200" u="none" cap="none" strike="noStrike">
              <a:solidFill>
                <a:srgbClr val="5148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「紀念」 遠超過對往事的回憶。禮儀上的紀念是將過去與現在一起呈現。</a:t>
            </a:r>
            <a:endParaRPr b="0" i="0" sz="1200" u="none" cap="none" strike="noStrike">
              <a:solidFill>
                <a:srgbClr val="5148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由於</a:t>
            </a:r>
            <a:r>
              <a:rPr b="1" i="0"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感恩祭</a:t>
            </a:r>
            <a:r>
              <a:rPr b="0" i="0"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是基督逾越的紀念，它</a:t>
            </a:r>
            <a:r>
              <a:rPr b="1" i="0"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也是一個祭獻</a:t>
            </a:r>
            <a:r>
              <a:rPr b="0" i="0"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感恩祭的祭獻特質顯示在基督建立這聖事的話上：「這是我的身體，為你們而捨棄的」；以及「這杯是用我為你們流出的血而立的新約」。在感恩祭中，基督所交付的身體，就是祂在十字架上為我們所交付的身體；所交付的血，就是祂「為大眾傾流，以赦免罪過」的血。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「</a:t>
            </a:r>
            <a:r>
              <a:rPr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上主，因此我們紀念基督的聖死與復活⋯⋯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」這是紀念禱文。「</a:t>
            </a:r>
            <a:r>
              <a:rPr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向祢奉獻生命之糧、救恩之杯⋯⋯</a:t>
            </a:r>
            <a:r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」是</a:t>
            </a: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奉獻禱文。</a:t>
            </a:r>
            <a:endParaRPr b="0" i="0" sz="1200" u="none" cap="none" strike="noStrike">
              <a:solidFill>
                <a:srgbClr val="5148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「代禱」為不同的意向代禱。「</a:t>
            </a:r>
            <a:r>
              <a:rPr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垂念普世的教會</a:t>
            </a: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」「</a:t>
            </a:r>
            <a:r>
              <a:rPr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垂念懷著復活的希望而安息的兄弟姐妺</a:t>
            </a: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」「</a:t>
            </a:r>
            <a:r>
              <a:rPr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垂念我們眾人</a:t>
            </a: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」</a:t>
            </a:r>
            <a:endParaRPr b="0" i="0" sz="1200" u="none" cap="none" strike="noStrike">
              <a:solidFill>
                <a:srgbClr val="5148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4843"/>
              </a:buClr>
              <a:buSzPts val="1200"/>
              <a:buFont typeface="DFKai-SB"/>
              <a:buNone/>
            </a:pPr>
            <a:r>
              <a:rPr lang="zh-TW" sz="1200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「</a:t>
            </a: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聖三頌</a:t>
            </a:r>
            <a:r>
              <a:rPr lang="zh-TW" sz="1200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」 「</a:t>
            </a:r>
            <a:r>
              <a:rPr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全能的天主聖父，一切崇敬和榮耀、藉著基督，偕同基督，在基督內，並聯合聖神，都歸於祢，直到永遠。</a:t>
            </a:r>
            <a:r>
              <a:rPr lang="zh-TW" sz="1200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」</a:t>
            </a:r>
            <a:r>
              <a:rPr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信友：阿們。（唱三次）</a:t>
            </a:r>
            <a:r>
              <a:rPr b="0" i="0" lang="zh-TW" sz="12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是希伯來文中的最高級。我們稱之為大阿門。</a:t>
            </a:r>
            <a:endParaRPr/>
          </a:p>
        </p:txBody>
      </p:sp>
      <p:sp>
        <p:nvSpPr>
          <p:cNvPr id="206" name="Google Shape;2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466877c3427047bd_8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466877c3427047bd_8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h466877c3427047bd_8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466877c3427047bd_8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466877c3427047bd_8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h466877c3427047bd_8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接下來的都是為了引導我們走向即將要領受的聖體。幫助我們確實做好準備。好能領受基督的體血。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「</a:t>
            </a:r>
            <a:r>
              <a:rPr lang="zh-TW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除免世罪的天主羔羊</a:t>
            </a:r>
            <a:r>
              <a:rPr lang="zh-TW"/>
              <a:t>」 是耶穌的稱呼。因為耶穌是為了我們被祭獻的新逾越節羔羊。當我們在彌撒中誦唸時，我們便是與天上，地上的一切受造物一起朝拜天主羔羊。</a:t>
            </a:r>
            <a:endParaRPr/>
          </a:p>
        </p:txBody>
      </p:sp>
      <p:sp>
        <p:nvSpPr>
          <p:cNvPr id="228" name="Google Shape;2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466877c3427047bd_8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466877c3427047bd_8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h466877c3427047bd_8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466877c3427047bd_8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h466877c3427047bd_8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h466877c3427047bd_8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" showMasterSp="0">
  <p:cSld name="Title Slide with Pictur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ctrTitle"/>
          </p:nvPr>
        </p:nvSpPr>
        <p:spPr>
          <a:xfrm>
            <a:off x="1104900" y="2292094"/>
            <a:ext cx="5734050" cy="2219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nta"/>
              <a:buNone/>
              <a:defRPr sz="4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104900" y="4511784"/>
            <a:ext cx="5734050" cy="955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descr="An empty placeholder to add an image. Click on the placeholder and select the image that you wish to add." id="21" name="Google Shape;21;p2"/>
          <p:cNvSpPr/>
          <p:nvPr>
            <p:ph idx="2" type="pic"/>
          </p:nvPr>
        </p:nvSpPr>
        <p:spPr>
          <a:xfrm>
            <a:off x="6981063" y="1310656"/>
            <a:ext cx="5210937" cy="4208604"/>
          </a:xfrm>
          <a:prstGeom prst="rect">
            <a:avLst/>
          </a:prstGeom>
          <a:solidFill>
            <a:srgbClr val="DED9D6"/>
          </a:solidFill>
          <a:ln>
            <a:noFill/>
          </a:ln>
        </p:spPr>
      </p:sp>
      <p:sp>
        <p:nvSpPr>
          <p:cNvPr id="22" name="Google Shape;22;p2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2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24" name="Google Shape;24;p2"/>
            <p:cNvCxnSpPr/>
            <p:nvPr/>
          </p:nvCxnSpPr>
          <p:spPr>
            <a:xfrm>
              <a:off x="507492" y="1564644"/>
              <a:ext cx="812901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507492" y="1501519"/>
              <a:ext cx="812901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26" name="Google Shape;2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28" name="Google Shape;28;p2"/>
            <p:cNvCxnSpPr/>
            <p:nvPr/>
          </p:nvCxnSpPr>
          <p:spPr>
            <a:xfrm>
              <a:off x="507492" y="1564644"/>
              <a:ext cx="812901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507492" y="1501519"/>
              <a:ext cx="812901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1104900" y="1600200"/>
            <a:ext cx="4914900" cy="4571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2" type="body"/>
          </p:nvPr>
        </p:nvSpPr>
        <p:spPr>
          <a:xfrm>
            <a:off x="6172200" y="1600200"/>
            <a:ext cx="4914900" cy="4571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/>
          <p:nvPr>
            <p:ph type="ctrTitle"/>
          </p:nvPr>
        </p:nvSpPr>
        <p:spPr>
          <a:xfrm>
            <a:off x="1104900" y="2292094"/>
            <a:ext cx="10096500" cy="2219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nta"/>
              <a:buNone/>
              <a:defRPr sz="4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subTitle"/>
          </p:nvPr>
        </p:nvSpPr>
        <p:spPr>
          <a:xfrm>
            <a:off x="1104898" y="4511784"/>
            <a:ext cx="10096501" cy="955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9" name="Google Shape;49;p5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ED9D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ED9D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6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55" name="Google Shape;55;p6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56" name="Google Shape;56;p6"/>
              <p:cNvCxnSpPr/>
              <p:nvPr/>
            </p:nvCxnSpPr>
            <p:spPr>
              <a:xfrm>
                <a:off x="507492" y="1564644"/>
                <a:ext cx="8129016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6"/>
              <p:cNvCxnSpPr/>
              <p:nvPr/>
            </p:nvCxnSpPr>
            <p:spPr>
              <a:xfrm>
                <a:off x="507492" y="1501519"/>
                <a:ext cx="812901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sp>
          <p:nvSpPr>
            <p:cNvPr id="58" name="Google Shape;58;p6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" name="Google Shape;59;p6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60" name="Google Shape;60;p6"/>
              <p:cNvCxnSpPr/>
              <p:nvPr/>
            </p:nvCxnSpPr>
            <p:spPr>
              <a:xfrm>
                <a:off x="507492" y="1564644"/>
                <a:ext cx="8129016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6"/>
              <p:cNvCxnSpPr/>
              <p:nvPr/>
            </p:nvCxnSpPr>
            <p:spPr>
              <a:xfrm>
                <a:off x="507492" y="1501519"/>
                <a:ext cx="812901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</p:grpSp>
      <p:pic>
        <p:nvPicPr>
          <p:cNvPr id="62" name="Google Shape;6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25880" y="0"/>
            <a:ext cx="1783188" cy="297180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 txBox="1"/>
          <p:nvPr>
            <p:ph type="title"/>
          </p:nvPr>
        </p:nvSpPr>
        <p:spPr>
          <a:xfrm>
            <a:off x="1104899" y="2971806"/>
            <a:ext cx="10071099" cy="16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nta"/>
              <a:buNone/>
              <a:defRPr sz="44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>
            <a:off x="1104899" y="4655956"/>
            <a:ext cx="10071099" cy="5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2000"/>
              <a:buNone/>
              <a:defRPr sz="2000">
                <a:solidFill>
                  <a:srgbClr val="9693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1800"/>
              <a:buNone/>
              <a:defRPr sz="1800">
                <a:solidFill>
                  <a:srgbClr val="9693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" type="body"/>
          </p:nvPr>
        </p:nvSpPr>
        <p:spPr>
          <a:xfrm>
            <a:off x="1104900" y="1600200"/>
            <a:ext cx="491947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7"/>
          <p:cNvSpPr txBox="1"/>
          <p:nvPr>
            <p:ph idx="2" type="body"/>
          </p:nvPr>
        </p:nvSpPr>
        <p:spPr>
          <a:xfrm>
            <a:off x="1104900" y="2424112"/>
            <a:ext cx="4919472" cy="3748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3" type="body"/>
          </p:nvPr>
        </p:nvSpPr>
        <p:spPr>
          <a:xfrm>
            <a:off x="6166110" y="1600200"/>
            <a:ext cx="491947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7"/>
          <p:cNvSpPr txBox="1"/>
          <p:nvPr>
            <p:ph idx="4" type="body"/>
          </p:nvPr>
        </p:nvSpPr>
        <p:spPr>
          <a:xfrm>
            <a:off x="6166110" y="2424112"/>
            <a:ext cx="4919472" cy="3748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t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1104900" y="1600200"/>
            <a:ext cx="438454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2" type="body"/>
          </p:nvPr>
        </p:nvSpPr>
        <p:spPr>
          <a:xfrm>
            <a:off x="5641848" y="1600199"/>
            <a:ext cx="5445252" cy="4572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302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9pPr>
          </a:lstStyle>
          <a:p/>
        </p:txBody>
      </p:sp>
      <p:sp>
        <p:nvSpPr>
          <p:cNvPr id="90" name="Google Shape;90;p10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t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" type="body"/>
          </p:nvPr>
        </p:nvSpPr>
        <p:spPr>
          <a:xfrm>
            <a:off x="1104900" y="1600200"/>
            <a:ext cx="339699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descr="An empty placeholder to add an image. Click on the placeholder and select the image that you wish to add." id="96" name="Google Shape;96;p11"/>
          <p:cNvSpPr/>
          <p:nvPr>
            <p:ph idx="2" type="pic"/>
          </p:nvPr>
        </p:nvSpPr>
        <p:spPr>
          <a:xfrm>
            <a:off x="4654671" y="1600199"/>
            <a:ext cx="6430912" cy="4572001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1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body"/>
          </p:nvPr>
        </p:nvSpPr>
        <p:spPr>
          <a:xfrm rot="5400000">
            <a:off x="3810000" y="-1104900"/>
            <a:ext cx="4572000" cy="9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/>
          <p:nvPr>
            <p:ph type="title"/>
          </p:nvPr>
        </p:nvSpPr>
        <p:spPr>
          <a:xfrm rot="5400000">
            <a:off x="7323931" y="2413794"/>
            <a:ext cx="5811838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" type="body"/>
          </p:nvPr>
        </p:nvSpPr>
        <p:spPr>
          <a:xfrm rot="5400000">
            <a:off x="2248429" y="-778404"/>
            <a:ext cx="5811838" cy="809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113" name="Google Shape;113;p13"/>
            <p:cNvCxnSpPr/>
            <p:nvPr/>
          </p:nvCxnSpPr>
          <p:spPr>
            <a:xfrm rot="10800000">
              <a:off x="1073150" y="1219201"/>
              <a:ext cx="10058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4" name="Google Shape;114;p13"/>
            <p:cNvCxnSpPr/>
            <p:nvPr/>
          </p:nvCxnSpPr>
          <p:spPr>
            <a:xfrm rot="10800000">
              <a:off x="1073150" y="1282326"/>
              <a:ext cx="100584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a"/>
              <a:buNone/>
              <a:defRPr b="0" i="0" sz="2800" u="none" cap="none" strike="noStrike">
                <a:solidFill>
                  <a:schemeClr val="dk1"/>
                </a:solidFill>
                <a:latin typeface="Anta"/>
                <a:ea typeface="Anta"/>
                <a:cs typeface="Anta"/>
                <a:sym typeface="An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3C353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3C353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5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5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5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5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5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5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5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5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5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5" name="Google Shape;15;p1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6" name="Google Shape;16;p1"/>
            <p:cNvCxnSpPr/>
            <p:nvPr/>
          </p:nvCxnSpPr>
          <p:spPr>
            <a:xfrm rot="10800000">
              <a:off x="1073150" y="1219201"/>
              <a:ext cx="10058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 rot="10800000">
              <a:off x="1073150" y="1282326"/>
              <a:ext cx="100584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type="ctrTitle"/>
          </p:nvPr>
        </p:nvSpPr>
        <p:spPr>
          <a:xfrm>
            <a:off x="1104900" y="2292094"/>
            <a:ext cx="4709304" cy="2219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感恩祭（彌撒）</a:t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1104900" y="4787660"/>
            <a:ext cx="4709304" cy="67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天主教達拉斯耶穌聖心堂</a:t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22" name="Google Shape;122;p14"/>
          <p:cNvPicPr preferRelativeResize="0"/>
          <p:nvPr/>
        </p:nvPicPr>
        <p:blipFill rotWithShape="1">
          <a:blip r:embed="rId3">
            <a:alphaModFix/>
          </a:blip>
          <a:srcRect b="0" l="11267" r="13471" t="0"/>
          <a:stretch/>
        </p:blipFill>
        <p:spPr>
          <a:xfrm>
            <a:off x="6320077" y="1227134"/>
            <a:ext cx="5871923" cy="438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感恩祭－前言</a:t>
            </a:r>
            <a:endParaRPr/>
          </a:p>
        </p:txBody>
      </p:sp>
      <p:sp>
        <p:nvSpPr>
          <p:cNvPr id="128" name="Google Shape;128;p15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彌撒一詞是拉丁文“Missa”的國語譯音，“Missa”本身有遣散、派遣的意思。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近來多用「感恩祭」一詞，因為從禮儀的內容來看，「感恩祭」更能表達出彌撒的核心精神。</a:t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感恩祭的三個重點</a:t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感恩祭是紀念基督在十字架上的</a:t>
            </a:r>
            <a:r>
              <a:rPr b="1" lang="zh-TW">
                <a:latin typeface="DFKai-SB"/>
                <a:ea typeface="DFKai-SB"/>
                <a:cs typeface="DFKai-SB"/>
                <a:sym typeface="DFKai-SB"/>
              </a:rPr>
              <a:t>犧牲</a:t>
            </a:r>
            <a:endParaRPr b="1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耶穌</a:t>
            </a:r>
            <a:r>
              <a:rPr b="1" lang="zh-TW">
                <a:latin typeface="DFKai-SB"/>
                <a:ea typeface="DFKai-SB"/>
                <a:cs typeface="DFKai-SB"/>
                <a:sym typeface="DFKai-SB"/>
              </a:rPr>
              <a:t>真正臨在於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感恩祭中</a:t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感恩祭是與主基督的</a:t>
            </a:r>
            <a:r>
              <a:rPr b="1" lang="zh-TW">
                <a:latin typeface="DFKai-SB"/>
                <a:ea typeface="DFKai-SB"/>
                <a:cs typeface="DFKai-SB"/>
                <a:sym typeface="DFKai-SB"/>
              </a:rPr>
              <a:t>聖神共融</a:t>
            </a:r>
            <a:endParaRPr b="1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「從第二世紀起，我們已有殉道者聖猶思定的見証，他描述了感恩祭程序的基本輪廓。直到今天，這輪廓仍完好地為各大禮儀族群所保存。」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「所有信友聚集一起。基督徒來到同一地方舉行感恩聚會。此聚會之領導者是基督自己，祂是感恩祭的主要執行者。祂是新約的大司祭，是祂親自以不可見的方式主持整個感恩慶典。主教或司鐸則是以基督元首之名代表祂主持聚會，在宣讀聖經後講道，接受獻禮並以感恩經祈禱。所有的人在慶典中，都各按其分，主動參與：宣讀聖經、呈獻禮品、送聖體聖血，全體會眾則以『阿們』顯示他們的參與。」</a:t>
            </a: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（天主教教理第1346, 1348號） </a:t>
            </a:r>
            <a:endParaRPr sz="1800">
              <a:latin typeface="DFKai-SB"/>
              <a:ea typeface="DFKai-SB"/>
              <a:cs typeface="DFKai-SB"/>
              <a:sym typeface="DFKai-SB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275" y="69125"/>
            <a:ext cx="9822125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1104900" y="76200"/>
            <a:ext cx="9980700" cy="1097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关于圣体圣事的重要早期教会文献</a:t>
            </a:r>
            <a:endParaRPr/>
          </a:p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spcBef>
                <a:spcPts val="1800"/>
              </a:spcBef>
              <a:spcAft>
                <a:spcPts val="0"/>
              </a:spcAft>
              <a:buSzPts val="1800"/>
              <a:buChar char="❏"/>
            </a:pPr>
            <a:r>
              <a:rPr lang="zh-TW"/>
              <a:t>《十二宗徒训诲录》（Didache）第9–10章及第14章（约公元一世纪末或二世纪初）：记载了对饼和杯的感恩祷文，以及基督徒举行圣体聚会的指示。这些章节是早期圣体信仰的重要见证。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zh-TW"/>
              <a:t>安提约基雅的圣依纳爵：《致士每拿人书》第7章（约公元二世纪初）：谈到圣体与基督真实的肉身有关，并把圣体共融与教会合一联系起来。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zh-TW"/>
              <a:t>圣犹斯定殉道者：《第一护教辞》第65–67章（约公元二世纪中叶）：描述基督徒入门礼仪和主日聚会。第66章指出，基督徒领受圣体时，并不把它当作普通的饼和饮料，而是领受耶稣降生成人的肉身和血。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zh-TW"/>
              <a:t>里昂的圣爱任纽：《驳异端》第四卷第17–18章（约公元二世纪末）：把圣体与基督的身体和血、受造界的美善，以及肉身复活的盼望联系起来。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感恩祭－</a:t>
            </a:r>
            <a:r>
              <a:rPr lang="zh-TW"/>
              <a:t>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結構</a:t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7" name="Google Shape;147;p18"/>
          <p:cNvSpPr txBox="1"/>
          <p:nvPr>
            <p:ph idx="1" type="body"/>
          </p:nvPr>
        </p:nvSpPr>
        <p:spPr>
          <a:xfrm>
            <a:off x="1104900" y="1362974"/>
            <a:ext cx="9982200" cy="4809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感恩（聖體）聖事包括四個部分：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進堂式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  <a:p>
            <a:pPr indent="0" lvl="2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1D2125"/>
              </a:buClr>
              <a:buSzPts val="1800"/>
              <a:buNone/>
            </a:pPr>
            <a:r>
              <a:rPr b="0" i="0" lang="zh-TW" sz="1800">
                <a:solidFill>
                  <a:srgbClr val="1D2125"/>
                </a:solidFill>
                <a:latin typeface="DFKai-SB"/>
                <a:ea typeface="DFKai-SB"/>
                <a:cs typeface="DFKai-SB"/>
                <a:sym typeface="DFKai-SB"/>
              </a:rPr>
              <a:t>進堂式就是幫助信友收斂心神、凝聚團體。信友在懺悔禮中，淨化心靈；主禮亦於開始祈禱時，揭示慶典的主題。</a:t>
            </a: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 </a:t>
            </a:r>
            <a:endParaRPr sz="18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聖道禮儀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  <a:p>
            <a:pPr indent="0" lvl="2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在聖道禮中，教會既宣讀天主聖言，也一起聆聽天主聖言。天主親自說話，向人宣布祂與人交往、施恩的故事，這些全部已紀錄在舊約及新約中，而且這些救恩故事的喜訊不斷延續及實現出來。</a:t>
            </a:r>
            <a:endParaRPr sz="18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聖祭禮儀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  <a:p>
            <a:pPr indent="0" lvl="2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聖祭禮是基督獨一無二的祭獻。首先是預備祭品及奉獻餅酒的行動，除了餅酒外，信友的生活奉獻（如工作成果、生活辛勞、痛苦、成敗），也與基督一起奉獻作祭品。 </a:t>
            </a:r>
            <a:endParaRPr sz="18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禮成式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  <a:p>
            <a:pPr indent="0" lvl="2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1D2125"/>
              </a:buClr>
              <a:buSzPts val="1800"/>
              <a:buNone/>
            </a:pPr>
            <a:r>
              <a:rPr lang="zh-TW" sz="1800">
                <a:solidFill>
                  <a:srgbClr val="1D2125"/>
                </a:solidFill>
                <a:latin typeface="DFKai-SB"/>
                <a:ea typeface="DFKai-SB"/>
                <a:cs typeface="DFKai-SB"/>
                <a:sym typeface="DFKai-SB"/>
              </a:rPr>
              <a:t>主禮</a:t>
            </a:r>
            <a:r>
              <a:rPr b="0" i="0" lang="zh-TW" sz="1800">
                <a:solidFill>
                  <a:srgbClr val="1D2125"/>
                </a:solidFill>
                <a:latin typeface="DFKai-SB"/>
                <a:ea typeface="DFKai-SB"/>
                <a:cs typeface="DFKai-SB"/>
                <a:sym typeface="DFKai-SB"/>
              </a:rPr>
              <a:t>以天主聖三的名義，降福眾人，宣布「彌撒禮成」。這「禮成」是我們為信仰生活作見證的開始，它意味着我們重回到日常生活裏，要將所聆聽的天主聖言、所領受的基督神糧恩寵，發顯於生活中。直到下次來參與感恩祭時，便一同將自己的辛勞奉獻給天父。如此看來，這是循環不息的周期，感恩祭和我們的生活有着互動的密切關係。</a:t>
            </a:r>
            <a:endParaRPr sz="18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感恩祭－進堂式</a:t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1104900" y="1417320"/>
            <a:ext cx="99822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進堂式就是幫助信友收斂心神、凝聚團體。信友在懺悔禮中，淨化心靈；主禮亦於開始祈禱時，揭示慶典的主題。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進堂詠：感恩祭是慶典，一同詠唱加強團體意識及隆重性，信友眾口同心讚美上主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劃十字聖號：懇求天主的神聖臨在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主禮致候：指出天主現在親自臨在團體中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懺悔禮及垂憐經：誠心懺悔，並請求團體一起代禱，彼此求恕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光榮頌  ：我們快樂地讚頌天主，因為祂是愛我們的父親，也因為祂為我們所作的一切感謝祂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集禱經  ：集合眾人的祈禱，並點出今天慶典的意義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41625" y="66622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zh-TW" sz="2300">
                <a:solidFill>
                  <a:schemeClr val="dk2"/>
                </a:solidFill>
              </a:rPr>
              <a:t>忏悔的抹大拉</a:t>
            </a:r>
            <a:endParaRPr b="1"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266925" cy="662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感恩祭－聖道禮儀的聖經選讀 </a:t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1104900" y="1406106"/>
            <a:ext cx="9982200" cy="4766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主日感恩祭共有三篇讀經（平日感恩祭則選兩篇）。第一篇大多是取自舊約（或宗徒大事錄），第二篇取自新約中的宗徒書信或默示錄；第三篇是福音。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教會選定三篇讀經的內容：舊約選經與福音是彼此相應、有連貫性，以表達出舊約是天主救恩的準備，宗徒大事錄及書信是聖神帶領下宗徒的見證，而福音是來自四部福音，是救恩的實現。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宣讀福音就是宣布聖子降生成人，來到我們當中，為我們死而復活，是天主救世工程的實現。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教會就主日讀經，安排了三年的循環周期，分別選自聖經不同部分：舊約、聖詠集、新約和福音。以三年為週期，即每三年的讀經會重覆一次。平日的感恩祭（每日讀經）則是兩年的循環周期。因着這樣的編排，信友能讀到最重要的救恩歷史，並且在教會內不斷宣講及聆聽這救恩的喜訊。</a:t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-2159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DFKai-SB"/>
              <a:buChar char="▪"/>
            </a:pPr>
            <a:r>
              <a:t/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感恩祭－聖道禮儀 </a:t>
            </a:r>
            <a:endParaRPr/>
          </a:p>
        </p:txBody>
      </p:sp>
      <p:pic>
        <p:nvPicPr>
          <p:cNvPr id="180" name="Google Shape;180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2567" l="67240" r="0" t="27986"/>
          <a:stretch/>
        </p:blipFill>
        <p:spPr>
          <a:xfrm>
            <a:off x="1027262" y="1743205"/>
            <a:ext cx="3492979" cy="395409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>
            <p:ph idx="2" type="body"/>
          </p:nvPr>
        </p:nvSpPr>
        <p:spPr>
          <a:xfrm>
            <a:off x="4675516" y="1464334"/>
            <a:ext cx="6411600" cy="47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 sz="1700">
                <a:latin typeface="DFKai-SB"/>
                <a:ea typeface="DFKai-SB"/>
                <a:cs typeface="DFKai-SB"/>
                <a:sym typeface="DFKai-SB"/>
              </a:rPr>
              <a:t>從禮儀程序來看，聖道禮儀採用的是一個天主與人對話的形式。從禮儀的結構要素而言，聖道禮儀反映出救恩計畫的歷程：從舊約時代、新約時代、宗徒時代、到教會時代。 </a:t>
            </a:r>
            <a:endParaRPr sz="1700">
              <a:latin typeface="DFKai-SB"/>
              <a:ea typeface="DFKai-SB"/>
              <a:cs typeface="DFKai-SB"/>
              <a:sym typeface="DFKai-SB"/>
            </a:endParaRPr>
          </a:p>
          <a:p>
            <a:pPr indent="-20955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</a:pPr>
            <a:r>
              <a:rPr lang="zh-TW" sz="1700">
                <a:latin typeface="DFKai-SB"/>
                <a:ea typeface="DFKai-SB"/>
                <a:cs typeface="DFKai-SB"/>
                <a:sym typeface="DFKai-SB"/>
              </a:rPr>
              <a:t>讀經一    ：多選自舊約，預示天主的恩許</a:t>
            </a:r>
            <a:endParaRPr sz="1300"/>
          </a:p>
          <a:p>
            <a:pPr indent="-20955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</a:pPr>
            <a:r>
              <a:rPr lang="zh-TW" sz="1700">
                <a:latin typeface="DFKai-SB"/>
                <a:ea typeface="DFKai-SB"/>
                <a:cs typeface="DFKai-SB"/>
                <a:sym typeface="DFKai-SB"/>
              </a:rPr>
              <a:t>答唱詠    ：選自聖詠，是對聖言聆聽後的答覆與回應</a:t>
            </a:r>
            <a:endParaRPr sz="1300"/>
          </a:p>
          <a:p>
            <a:pPr indent="-20955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</a:pPr>
            <a:r>
              <a:rPr lang="zh-TW" sz="1700">
                <a:latin typeface="DFKai-SB"/>
                <a:ea typeface="DFKai-SB"/>
                <a:cs typeface="DFKai-SB"/>
                <a:sym typeface="DFKai-SB"/>
              </a:rPr>
              <a:t>讀經二    ：多選自宗徒書信，講述宗徒的作證、救恩的延續，〈宗徒大事錄〉和〈默示錄〉</a:t>
            </a:r>
            <a:endParaRPr sz="1700">
              <a:latin typeface="DFKai-SB"/>
              <a:ea typeface="DFKai-SB"/>
              <a:cs typeface="DFKai-SB"/>
              <a:sym typeface="DFKai-SB"/>
            </a:endParaRPr>
          </a:p>
          <a:p>
            <a:pPr indent="-20955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</a:pPr>
            <a:r>
              <a:rPr lang="zh-TW" sz="1700">
                <a:latin typeface="DFKai-SB"/>
                <a:ea typeface="DFKai-SB"/>
                <a:cs typeface="DFKai-SB"/>
                <a:sym typeface="DFKai-SB"/>
              </a:rPr>
              <a:t>福音前歡呼：迎接基督的行動</a:t>
            </a:r>
            <a:endParaRPr sz="1300"/>
          </a:p>
          <a:p>
            <a:pPr indent="-20955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</a:pPr>
            <a:r>
              <a:rPr lang="zh-TW" sz="1700">
                <a:latin typeface="DFKai-SB"/>
                <a:ea typeface="DFKai-SB"/>
                <a:cs typeface="DFKai-SB"/>
                <a:sym typeface="DFKai-SB"/>
              </a:rPr>
              <a:t>福音      ：基督自己向我們說話</a:t>
            </a:r>
            <a:endParaRPr sz="1300"/>
          </a:p>
          <a:p>
            <a:pPr indent="-20955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</a:pPr>
            <a:r>
              <a:rPr lang="zh-TW" sz="1700">
                <a:latin typeface="DFKai-SB"/>
                <a:ea typeface="DFKai-SB"/>
                <a:cs typeface="DFKai-SB"/>
                <a:sym typeface="DFKai-SB"/>
              </a:rPr>
              <a:t>講道      ：解說聖言及慶典的意義，與今天生活的關係</a:t>
            </a:r>
            <a:endParaRPr sz="1300"/>
          </a:p>
          <a:p>
            <a:pPr indent="-20955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</a:pPr>
            <a:r>
              <a:rPr lang="zh-TW" sz="1700">
                <a:latin typeface="DFKai-SB"/>
                <a:ea typeface="DFKai-SB"/>
                <a:cs typeface="DFKai-SB"/>
                <a:sym typeface="DFKai-SB"/>
              </a:rPr>
              <a:t>信經      ：重申宣信整個教會的主要信仰</a:t>
            </a:r>
            <a:endParaRPr sz="1300"/>
          </a:p>
          <a:p>
            <a:pPr indent="-20955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▪"/>
            </a:pPr>
            <a:r>
              <a:rPr lang="zh-TW" sz="1700">
                <a:latin typeface="DFKai-SB"/>
                <a:ea typeface="DFKai-SB"/>
                <a:cs typeface="DFKai-SB"/>
                <a:sym typeface="DFKai-SB"/>
              </a:rPr>
              <a:t>信友禱詞  ：回應天主的話，為教會、世界及有需要的人祈禱，表達教會的普世性</a:t>
            </a:r>
            <a:endParaRPr sz="1300"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569676" cy="655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 txBox="1"/>
          <p:nvPr>
            <p:ph idx="2" type="body"/>
          </p:nvPr>
        </p:nvSpPr>
        <p:spPr>
          <a:xfrm>
            <a:off x="6172200" y="1600200"/>
            <a:ext cx="4914900" cy="45720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2"/>
                </a:solidFill>
              </a:rPr>
              <a:t>圭多・雷尼《聖瑪竇與天使》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zh-TW" sz="1800">
                <a:solidFill>
                  <a:schemeClr val="dk2"/>
                </a:solidFill>
              </a:rPr>
              <a:t>天使引著聖史的手寫福音——天主說話的樣子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1104900" y="76200"/>
            <a:ext cx="9980700" cy="1097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今天的主日讀經</a:t>
            </a:r>
            <a:endParaRPr/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1104900" y="76200"/>
            <a:ext cx="9980700" cy="1097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信仰宣誓（信經）</a:t>
            </a:r>
            <a:endParaRPr/>
          </a:p>
        </p:txBody>
      </p:sp>
      <p:sp>
        <p:nvSpPr>
          <p:cNvPr id="202" name="Google Shape;202;p26"/>
          <p:cNvSpPr txBox="1"/>
          <p:nvPr>
            <p:ph idx="1" type="body"/>
          </p:nvPr>
        </p:nvSpPr>
        <p:spPr>
          <a:xfrm>
            <a:off x="1104150" y="1556300"/>
            <a:ext cx="9982200" cy="45720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我信唯一的天主。。。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zh-TW"/>
              <a:t>參禮會眾於讀經及闡釋聖經的講道中，聆聽天主的聖言後，一起以「信經」或「宣信」作出回應。透過這准用的禮儀經文來宣明信德的規範，是為了在感恩禮中慶祝此偉大的信德奧蹟之前，先予以重溫並宣認。</a:t>
            </a:r>
            <a:endParaRPr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感恩祭－聖祭禮儀（一）</a:t>
            </a:r>
            <a:endParaRPr/>
          </a:p>
        </p:txBody>
      </p:sp>
      <p:pic>
        <p:nvPicPr>
          <p:cNvPr id="209" name="Google Shape;209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5679" r="7003" t="5189"/>
          <a:stretch/>
        </p:blipFill>
        <p:spPr>
          <a:xfrm>
            <a:off x="1104900" y="1488057"/>
            <a:ext cx="2907102" cy="433477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>
            <p:ph idx="2" type="body"/>
          </p:nvPr>
        </p:nvSpPr>
        <p:spPr>
          <a:xfrm>
            <a:off x="4012002" y="1414732"/>
            <a:ext cx="7075098" cy="4757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14843"/>
              </a:buClr>
              <a:buSzPts val="2000"/>
              <a:buFont typeface="Noto Sans Symbols"/>
              <a:buNone/>
            </a:pPr>
            <a:r>
              <a:rPr b="0" i="0" lang="zh-TW" sz="20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呈獻禮品及預備祭台</a:t>
            </a:r>
            <a:endParaRPr b="0" i="0" sz="2000" u="none" cap="none" strike="noStrike">
              <a:solidFill>
                <a:srgbClr val="5148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Char char="▪"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將餅酒</a:t>
            </a:r>
            <a:r>
              <a:rPr lang="zh-TW" sz="1800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當成禮品呈獻給主祭</a:t>
            </a: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 （收集彌撒獻儀，支持教會的需要）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Char char="▪"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獻禮經：求天主接納禮品，並總結獻禮的意向</a:t>
            </a:r>
            <a:endParaRPr b="0" i="0" sz="1800" u="none" cap="none" strike="noStrike">
              <a:solidFill>
                <a:srgbClr val="5148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514843"/>
              </a:buClr>
              <a:buSzPts val="2000"/>
              <a:buFont typeface="Noto Sans Symbols"/>
              <a:buNone/>
            </a:pPr>
            <a:r>
              <a:rPr b="0" i="0" lang="zh-TW" sz="20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感恩經	 </a:t>
            </a:r>
            <a:endParaRPr b="0" i="0" sz="2000" u="none" cap="none" strike="noStrike">
              <a:solidFill>
                <a:srgbClr val="5148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Char char="▪"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頌謝詞：宣示對主的感恩謝意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Char char="▪"/>
            </a:pPr>
            <a:r>
              <a:rPr lang="zh-TW" sz="1800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歡呼歌：</a:t>
            </a: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聖、聖、聖⋯⋯與天上神聖和宇宙萬有一起讚美天主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Char char="▪"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呼求聖神：求聖神祝聖禮品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Char char="▪"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建立聖體聖血的敘述：懷着感恩之心，追憶基督的大愛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Char char="▪"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紀念：奉耶穌的命令，紀念祂為人犧牲、死而復活的奧蹟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Char char="▪"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奉獻：把祭品獻給天父，並自我犧牲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Char char="▪"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紀念諸聖及求恩：深信諸聖共融相通，並為教會及生者、死者祈求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Char char="▪"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聖三頌：感恩祭是經由基督，在聖神內，歸向天主聖父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idx="2" type="body"/>
          </p:nvPr>
        </p:nvSpPr>
        <p:spPr>
          <a:xfrm>
            <a:off x="5114575" y="1600200"/>
            <a:ext cx="5413800" cy="46080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zh-TW" sz="1900">
                <a:solidFill>
                  <a:schemeClr val="dk2"/>
                </a:solidFill>
              </a:rPr>
              <a:t>波佐《聖依納爵的勝利》（羅馬聖依納爵堂穹頂，1694）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zh-TW" sz="1700">
                <a:solidFill>
                  <a:schemeClr val="dk2"/>
                </a:solidFill>
              </a:rPr>
              <a:t>抬頭仰望：基督在光中，天使聖人層層環繞——正是感恩經中高唱「聖、聖、聖」時，天上人間一同歡呼的樣子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591" y="0"/>
            <a:ext cx="362991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1104900" y="76200"/>
            <a:ext cx="9980700" cy="1097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路加福音 22</a:t>
            </a:r>
            <a:endParaRPr/>
          </a:p>
        </p:txBody>
      </p:sp>
      <p:sp>
        <p:nvSpPr>
          <p:cNvPr id="224" name="Google Shape;224;p29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13他们去了，所遇见的，正如耶稣对他们所说的一样；他们便预备了逾越节晚餐。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14到了时候，耶稣就入席，宗徒也同他一起。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15耶稣对他们说：「我渴望而又渴望，在我受难以前，同你们吃这一次逾越节晚餐。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16我告诉你们：非等到它在天主的国里成全了，我决不再吃它。」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17耶稣接过杯来，祝谢了说：「你们把这杯拿去，彼此分着喝罢！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18我告诉你们：从今以后，非等到天主的国来临了，我决不再喝这葡萄汁了。」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19耶稣拿起饼来，祝谢了，擘开，递给他们说：「</a:t>
            </a:r>
            <a:r>
              <a:rPr b="1" lang="zh-TW"/>
              <a:t>这是我的身体，为你们而舍弃的。你们</a:t>
            </a:r>
            <a:r>
              <a:rPr b="1" lang="zh-TW" sz="2600"/>
              <a:t>应行此礼，为纪念我</a:t>
            </a:r>
            <a:r>
              <a:rPr b="1" lang="zh-TW"/>
              <a:t>。</a:t>
            </a:r>
            <a:r>
              <a:rPr lang="zh-TW"/>
              <a:t>」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20晚餐以后，耶稣同样拿起杯来，说：「</a:t>
            </a:r>
            <a:r>
              <a:rPr b="1" lang="zh-TW"/>
              <a:t>这杯是用我为你们流出的血而立的</a:t>
            </a:r>
            <a:r>
              <a:rPr b="1" lang="zh-TW" sz="2900"/>
              <a:t>新约</a:t>
            </a:r>
            <a:r>
              <a:rPr b="1" lang="zh-TW"/>
              <a:t>。</a:t>
            </a:r>
            <a:r>
              <a:rPr lang="zh-TW"/>
              <a:t>」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感恩祭－聖祭禮儀（二）</a:t>
            </a:r>
            <a:endParaRPr/>
          </a:p>
        </p:txBody>
      </p:sp>
      <p:pic>
        <p:nvPicPr>
          <p:cNvPr id="231" name="Google Shape;231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27907" r="20154" t="0"/>
          <a:stretch/>
        </p:blipFill>
        <p:spPr>
          <a:xfrm>
            <a:off x="1104900" y="1600200"/>
            <a:ext cx="3268123" cy="367054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0"/>
          <p:cNvSpPr txBox="1"/>
          <p:nvPr>
            <p:ph idx="2" type="body"/>
          </p:nvPr>
        </p:nvSpPr>
        <p:spPr>
          <a:xfrm>
            <a:off x="4537494" y="1600200"/>
            <a:ext cx="6549606" cy="4571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14843"/>
              </a:buClr>
              <a:buSzPts val="2000"/>
              <a:buFont typeface="Noto Sans Symbols"/>
              <a:buNone/>
            </a:pPr>
            <a:r>
              <a:rPr b="0" i="0" lang="zh-TW" sz="20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呈獻領聖體禮／共融禮</a:t>
            </a:r>
            <a:endParaRPr b="0" i="0" sz="2000" u="none" cap="none" strike="noStrike">
              <a:solidFill>
                <a:srgbClr val="5148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None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天主經：是天父兒女的祈禱，強調天父與其子民的親密關係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None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平安禮：在基督內互祝平安，表示修和、相親相愛和共融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None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羔羊頌：逾越節羔羊是基督，已戰勝死亡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None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主祭領聖體、聖血，信眾領聖體(聖血)：因着與主共融，而人與人和萬有也共融，在主內結為一體。(靜默祈禱、感恩、求恩)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14843"/>
              </a:buClr>
              <a:buSzPts val="1800"/>
              <a:buFont typeface="Noto Sans Symbols"/>
              <a:buNone/>
            </a:pPr>
            <a:r>
              <a:rPr b="0" i="0" lang="zh-TW" sz="1800" u="none" cap="none" strike="noStrike">
                <a:solidFill>
                  <a:srgbClr val="514843"/>
                </a:solidFill>
                <a:latin typeface="DFKai-SB"/>
                <a:ea typeface="DFKai-SB"/>
                <a:cs typeface="DFKai-SB"/>
                <a:sym typeface="DFKai-SB"/>
              </a:rPr>
              <a:t>領聖體後經：祈求由所舉行的奧蹟得到實效，並結束整個共融禮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type="title"/>
          </p:nvPr>
        </p:nvSpPr>
        <p:spPr>
          <a:xfrm>
            <a:off x="1104900" y="76200"/>
            <a:ext cx="9980700" cy="1097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200">
                <a:latin typeface="Arial"/>
                <a:ea typeface="Arial"/>
                <a:cs typeface="Arial"/>
                <a:sym typeface="Arial"/>
              </a:rPr>
              <a:t>聖體</a:t>
            </a:r>
            <a:endParaRPr b="1" sz="4000"/>
          </a:p>
        </p:txBody>
      </p:sp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    「我實實在在告訴你們：你們若不吃人子的肉，不喝他的血，在你們內，便沒有生命。誰吃我的肉，並喝我的血，必得永生，在末日，我且要叫他復活，因為我的肉，是真實的食品；我的血，是真實的飲料。誰吃我的肉，並喝我的血，便住在我內，我也住在他內。」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——若 6:53–56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    「從此，他的門徒中有許多人退去了……『主！惟你有永生的話，我們去投奔誰呢？我們相信，而且已知道你是天主的聖者。』」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——若 6:66–69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>
            <p:ph type="title"/>
          </p:nvPr>
        </p:nvSpPr>
        <p:spPr>
          <a:xfrm>
            <a:off x="1104900" y="76200"/>
            <a:ext cx="9980700" cy="1097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latin typeface="Arial"/>
                <a:ea typeface="Arial"/>
                <a:cs typeface="Arial"/>
                <a:sym typeface="Arial"/>
              </a:rPr>
              <a:t>基督真實臨在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2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    祝聖之後，餅酒真正成為耶穌——祂的體和血。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    不是象徵，不是紀念：是真真實實的祂。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    教會稱這轉變為「實體轉變」（CCC 1376）：餅酒的外形仍在，但其實體已成為基督。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zh-TW"/>
              <a:t>    「藉著餅與酒的被祝聖，餅的整個實體，被轉變成為我主基督身體的實體；酒的整個實體，被轉變成為祂寶血的實體。」——CCC 1376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領聖體</a:t>
            </a:r>
            <a:endParaRPr/>
          </a:p>
        </p:txBody>
      </p:sp>
      <p:sp>
        <p:nvSpPr>
          <p:cNvPr id="252" name="Google Shape;252;p33"/>
          <p:cNvSpPr txBox="1"/>
          <p:nvPr>
            <p:ph idx="1" type="body"/>
          </p:nvPr>
        </p:nvSpPr>
        <p:spPr>
          <a:xfrm>
            <a:off x="1104900" y="1354347"/>
            <a:ext cx="9982200" cy="4817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信友列隊前往領聖體時，應保持專心，不要與周圍的人打招呼。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恭領聖體時，一般是採站立的姿勢。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領聖體時，分送聖體者舉起聖體時宣告「基督聖體。」 領受者回答：「阿們。」。如果聽不到「基督聖體」的宣告，我們自己心中可以默念「基督聖體」然後領下，不必回應「阿們。」。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手領聖體時，雙手交疊。一般是左手在上，右手在下（不是併排）。分送聖體者將聖體放在領受者的左手心上,領受者用右手拿起後立刻領下，或稍移至祭台旁恭領。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800"/>
              <a:buChar char="▪"/>
            </a:pPr>
            <a:r>
              <a:rPr lang="zh-TW" sz="1800">
                <a:solidFill>
                  <a:srgbClr val="0070C0"/>
                </a:solidFill>
                <a:latin typeface="DFKai-SB"/>
                <a:ea typeface="DFKai-SB"/>
                <a:cs typeface="DFKai-SB"/>
                <a:sym typeface="DFKai-SB"/>
              </a:rPr>
              <a:t>如果因故不能領聖體，信友應該靜坐在自己的位置上。不宜以雙手環抱在胸前，排隊前往請求神父降福，因為這不是降福的時間。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感恩祭－</a:t>
            </a:r>
            <a:r>
              <a:rPr lang="zh-TW" sz="2800">
                <a:latin typeface="DFKai-SB"/>
                <a:ea typeface="DFKai-SB"/>
                <a:cs typeface="DFKai-SB"/>
                <a:sym typeface="DFKai-SB"/>
              </a:rPr>
              <a:t>禮成式</a:t>
            </a:r>
            <a:endParaRPr/>
          </a:p>
        </p:txBody>
      </p:sp>
      <p:pic>
        <p:nvPicPr>
          <p:cNvPr id="258" name="Google Shape;258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21924" r="29282" t="0"/>
          <a:stretch/>
        </p:blipFill>
        <p:spPr>
          <a:xfrm>
            <a:off x="1104900" y="1695091"/>
            <a:ext cx="3004340" cy="386032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4"/>
          <p:cNvSpPr txBox="1"/>
          <p:nvPr>
            <p:ph idx="2" type="body"/>
          </p:nvPr>
        </p:nvSpPr>
        <p:spPr>
          <a:xfrm>
            <a:off x="4218317" y="1695091"/>
            <a:ext cx="6868783" cy="44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降福信眾</a:t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主祭代表將要升天的基督，「舉手降福」會眾，向信友畫十字，賦予我們福傳的使命，要我們將十字架之光，帶到人群中。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派遣</a:t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接受聖三派遣，好使他們能在日常生活裡實踐天主的旨意。 </a:t>
            </a:r>
            <a:endParaRPr sz="18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出堂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彌撒開始時，主禮口親祭台，同時兩手扶於祭台上，表示與主基督擁抱，因為祭台象徵基督。彌撒結束，主禮也以同樣動作先向祭台致敬，然後輔禮人員、執事及主祭依次退席。</a:t>
            </a:r>
            <a:endParaRPr sz="1800">
              <a:latin typeface="DFKai-SB"/>
              <a:ea typeface="DFKai-SB"/>
              <a:cs typeface="DFKai-SB"/>
              <a:sym typeface="DFKai-SB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感恩祭－總結</a:t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65" name="Google Shape;265;p35"/>
          <p:cNvSpPr txBox="1"/>
          <p:nvPr>
            <p:ph idx="1" type="body"/>
          </p:nvPr>
        </p:nvSpPr>
        <p:spPr>
          <a:xfrm>
            <a:off x="1104900" y="1354347"/>
            <a:ext cx="9982200" cy="4817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教會藉著感恩祭，紀念和慶祝基督死而復活所完成的救贖工作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感恩祭也是信友們在基督內參與祭獻和宴會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一方面是基督親自通過司鐸的職務，祝聖了的餅酒成為自己的體血，與信友一起向天父獻上感恩和讚頌的祭獻，為賜給信友救贖的恩寵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另一方面，信友們領受了臨在於聖言和聖事的基督，也獲得生命之糧，在這共融的宴會中，與天主和整個教會緊密結合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我們要以信德和虔敬的心參與感恩祭，以聖事的恩寵活出基督的教導，並以愛和共融彼此相待，藉著基督，在聖神內，歸向天父。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感恩祭的三個重點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感恩祭是紀念基督在十字架上的</a:t>
            </a:r>
            <a:r>
              <a:rPr b="1" lang="zh-TW" sz="2000">
                <a:latin typeface="DFKai-SB"/>
                <a:ea typeface="DFKai-SB"/>
                <a:cs typeface="DFKai-SB"/>
                <a:sym typeface="DFKai-SB"/>
              </a:rPr>
              <a:t>犧牲</a:t>
            </a:r>
            <a:endParaRPr b="1" sz="20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耶穌</a:t>
            </a:r>
            <a:r>
              <a:rPr b="1" lang="zh-TW" sz="2000">
                <a:latin typeface="DFKai-SB"/>
                <a:ea typeface="DFKai-SB"/>
                <a:cs typeface="DFKai-SB"/>
                <a:sym typeface="DFKai-SB"/>
              </a:rPr>
              <a:t>真正臨在於</a:t>
            </a: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感恩祭中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感恩祭是與主基督的</a:t>
            </a:r>
            <a:r>
              <a:rPr b="1" lang="zh-TW" sz="2000">
                <a:latin typeface="DFKai-SB"/>
                <a:ea typeface="DFKai-SB"/>
                <a:cs typeface="DFKai-SB"/>
                <a:sym typeface="DFKai-SB"/>
              </a:rPr>
              <a:t>聖神共融</a:t>
            </a:r>
            <a:endParaRPr b="1" sz="2000">
              <a:latin typeface="DFKai-SB"/>
              <a:ea typeface="DFKai-SB"/>
              <a:cs typeface="DFKai-SB"/>
              <a:sym typeface="DFKai-SB"/>
            </a:endParaRPr>
          </a:p>
          <a:p>
            <a:pPr indent="-889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FKai-SB"/>
              <a:buNone/>
            </a:pPr>
            <a:r>
              <a:rPr lang="zh-TW" sz="2800">
                <a:latin typeface="DFKai-SB"/>
                <a:ea typeface="DFKai-SB"/>
                <a:cs typeface="DFKai-SB"/>
                <a:sym typeface="DFKai-SB"/>
              </a:rPr>
              <a:t>參與彌撒的建議</a:t>
            </a:r>
            <a:endParaRPr/>
          </a:p>
        </p:txBody>
      </p:sp>
      <p:sp>
        <p:nvSpPr>
          <p:cNvPr id="271" name="Google Shape;271;p36"/>
          <p:cNvSpPr txBox="1"/>
          <p:nvPr>
            <p:ph idx="1" type="body"/>
          </p:nvPr>
        </p:nvSpPr>
        <p:spPr>
          <a:xfrm>
            <a:off x="1104900" y="1345721"/>
            <a:ext cx="9982200" cy="4826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參與彌撒前，進入聖堂儘量保持靜默，好能妥善預備心靈，虔誠並合宜地參與彌撒聖祭。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在參與彌撒聖祭時，全程保持莊重，不採輕鬆翹腳姿勢。</a:t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書籤是用來標識書本中的特定頁面，以方便返回參考閱讀。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在彌撒前，先把經本中的線質書籤分別放在：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當日的集禱經、獻禮經及領聖體後經的頁面。</a:t>
            </a:r>
            <a:endParaRPr sz="18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有信友參與的彌撒規程的頁面。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當日聖經選讀的頁面。</a:t>
            </a:r>
            <a:endParaRPr sz="1800">
              <a:latin typeface="DFKai-SB"/>
              <a:ea typeface="DFKai-SB"/>
              <a:cs typeface="DFKai-SB"/>
              <a:sym typeface="DFKai-SB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Char char="▪"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平安禮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</a:pPr>
            <a:r>
              <a:rPr lang="zh-TW" sz="1800">
                <a:latin typeface="DFKai-SB"/>
                <a:ea typeface="DFKai-SB"/>
                <a:cs typeface="DFKai-SB"/>
                <a:sym typeface="DFKai-SB"/>
              </a:rPr>
              <a:t>平安禮不是社交問候，不可以離開座位去向親朋好友打招呼。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DFKai-SB"/>
              <a:ea typeface="DFKai-SB"/>
              <a:cs typeface="DFKai-SB"/>
              <a:sym typeface="DFKai-SB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教會的規條</a:t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77" name="Google Shape;277;p37"/>
          <p:cNvSpPr txBox="1"/>
          <p:nvPr>
            <p:ph idx="1" type="body"/>
          </p:nvPr>
        </p:nvSpPr>
        <p:spPr>
          <a:xfrm>
            <a:off x="1104900" y="1354347"/>
            <a:ext cx="9982200" cy="4817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第一規條 (「</a:t>
            </a:r>
            <a:r>
              <a:rPr lang="zh-TW">
                <a:solidFill>
                  <a:srgbClr val="0070C0"/>
                </a:solidFill>
                <a:latin typeface="DFKai-SB"/>
                <a:ea typeface="DFKai-SB"/>
                <a:cs typeface="DFKai-SB"/>
                <a:sym typeface="DFKai-SB"/>
              </a:rPr>
              <a:t>主日及當守的法定慶節應參與彌撒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」)要求信徒參與慶祝紀念主復活的日子，以及敬禮主的奧蹟、榮福童貞瑪利亞，和諸聖人的主要禮儀慶節；首先，要參與基督徒團體團聚一起的感恩慶典，並且要停止一切阻礙聖化這些日子的工作和操勞，從而得到休息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第二規條 (「</a:t>
            </a:r>
            <a:r>
              <a:rPr lang="zh-TW">
                <a:solidFill>
                  <a:srgbClr val="0070C0"/>
                </a:solidFill>
                <a:latin typeface="DFKai-SB"/>
                <a:ea typeface="DFKai-SB"/>
                <a:cs typeface="DFKai-SB"/>
                <a:sym typeface="DFKai-SB"/>
              </a:rPr>
              <a:t>應至少每年一次告明你的罪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」)藉著領受和好聖事，繼續聖洗聖事的皈依和赦免的工程，為領受聖體妥作準備。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第三規條 (「</a:t>
            </a:r>
            <a:r>
              <a:rPr lang="zh-TW">
                <a:solidFill>
                  <a:srgbClr val="0070C0"/>
                </a:solidFill>
                <a:latin typeface="DFKai-SB"/>
                <a:ea typeface="DFKai-SB"/>
                <a:cs typeface="DFKai-SB"/>
                <a:sym typeface="DFKai-SB"/>
              </a:rPr>
              <a:t>至少應在逾越慶節時領受感恩(聖體)聖事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)， 保証最低限度的領受主的聖體聖血，要在逾越節期中領受，這是基督徒禮儀的原始和中心。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第四規條 (「</a:t>
            </a:r>
            <a:r>
              <a:rPr lang="zh-TW">
                <a:solidFill>
                  <a:srgbClr val="0070C0"/>
                </a:solidFill>
                <a:latin typeface="DFKai-SB"/>
                <a:ea typeface="DFKai-SB"/>
                <a:cs typeface="DFKai-SB"/>
                <a:sym typeface="DFKai-SB"/>
              </a:rPr>
              <a:t>應在法定日子上遵守大齋和小齋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」)，…… 獲得控制本能的力量和心靈的自由。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第五規條 (「</a:t>
            </a:r>
            <a:r>
              <a:rPr lang="zh-TW">
                <a:solidFill>
                  <a:srgbClr val="0070C0"/>
                </a:solidFill>
                <a:latin typeface="DFKai-SB"/>
                <a:ea typeface="DFKai-SB"/>
                <a:cs typeface="DFKai-SB"/>
                <a:sym typeface="DFKai-SB"/>
              </a:rPr>
              <a:t>應支援教會的需要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」)，意指信徒尚有義務，各盡自己的能力，支援教會物質的需要。</a:t>
            </a:r>
            <a:r>
              <a:rPr b="0" i="0" lang="zh-TW">
                <a:solidFill>
                  <a:srgbClr val="080809"/>
                </a:solidFill>
                <a:latin typeface="DFKai-SB"/>
                <a:ea typeface="DFKai-SB"/>
                <a:cs typeface="DFKai-SB"/>
                <a:sym typeface="DFKai-SB"/>
              </a:rPr>
              <a:t>（天主教教理＃2042-2043）</a:t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禮儀年</a:t>
            </a:r>
            <a:endParaRPr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83" name="Google Shape;283;p38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天主教一年中的禮儀節期，稱作「禮儀年」。其中包括了聖誕節、復活節和聖神降臨等節慶，用以紀念耶穌基督在世間的重大事蹟。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將臨期：為期四週左右，是耶穌降生前的準備期。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聖誕期：從聖誕節到耶穌受洗日，為了紀念及慶祝耶穌降生成人。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四旬期：復活節前對自身心靈的準備，為期六週左右。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逾越節三日慶典：禮儀年的中心與高峰，最神聖的三天，目的是為了幫助信友紀念並在精神靈修上參與耶穌的受難、死亡和復活。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復活期：從復活節到聖神降臨，歡慶五十天。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zh-TW" sz="2200">
                <a:latin typeface="DFKai-SB"/>
                <a:ea typeface="DFKai-SB"/>
                <a:cs typeface="DFKai-SB"/>
                <a:sym typeface="DFKai-SB"/>
              </a:rPr>
              <a:t>常年期：第一分期在聖誕期之後，大約四至八週；第二分期則在復活期之後，為期約六個月。</a:t>
            </a:r>
            <a:endParaRPr sz="22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